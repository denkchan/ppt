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394960"/>
            <a:ext cx="182880" cy="182880"/>
          </a:xfrm>
          <a:prstGeom prst="rect">
            <a:avLst/>
          </a:prstGeom>
          <a:solidFill>
            <a:srgbClr val="0FB5A6"/>
          </a:solidFill>
          <a:ln/>
        </p:spPr>
      </p:sp>
      <p:sp>
        <p:nvSpPr>
          <p:cNvPr id="3" name="Shape 1"/>
          <p:cNvSpPr/>
          <p:nvPr/>
        </p:nvSpPr>
        <p:spPr>
          <a:xfrm>
            <a:off x="841248" y="5394960"/>
            <a:ext cx="182880" cy="182880"/>
          </a:xfrm>
          <a:prstGeom prst="rect">
            <a:avLst/>
          </a:prstGeom>
          <a:solidFill>
            <a:srgbClr val="0FB5A6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15568" y="5394960"/>
            <a:ext cx="182880" cy="182880"/>
          </a:xfrm>
          <a:prstGeom prst="rect">
            <a:avLst/>
          </a:prstGeom>
          <a:solidFill>
            <a:srgbClr val="0FB5A6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87452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0FB5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面向零基础 · 功能与设计原理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2286000"/>
            <a:ext cx="11055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1F5F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DeepSeek Harness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66928" y="3456432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FE0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让大模型真正「干活」的那套脚手架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66928" y="416052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DB0C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它是什么？为什么需要它？DeepSeek 又做对了什么？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55448" cy="155448"/>
          </a:xfrm>
          <a:prstGeom prst="rect">
            <a:avLst/>
          </a:prstGeom>
          <a:solidFill>
            <a:srgbClr val="0FB5A6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384048"/>
            <a:ext cx="10762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FB5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今天聊什么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五个问题，从零讲到 DeepSeek 的设计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69164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B5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481328" y="170992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大模型到底是什么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81328" y="205740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 秒建立基本直觉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441448"/>
            <a:ext cx="11055096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587752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B5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481328" y="2606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Harness 是什么，为什么需要它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81328" y="2953512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模型和「脚手架」的关系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3337560"/>
            <a:ext cx="11055096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3483864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B5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481328" y="350215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你问一句话，背后发生了什么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81328" y="3849624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一个问题的完整旅程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4233672"/>
            <a:ext cx="11055096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4379976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B5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481328" y="4398264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DeepSeek 的三大设计亮点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81328" y="4745736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MLA · MoE · MTP，怎么又快又省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5129784"/>
            <a:ext cx="11055096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5276088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B5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481328" y="529437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它们如何协同工作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481328" y="5641848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一张图串起全部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66928" y="6025896"/>
            <a:ext cx="11055096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DeepSeek Harness · 通俗解读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707624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55448" cy="155448"/>
          </a:xfrm>
          <a:prstGeom prst="rect">
            <a:avLst/>
          </a:prstGeom>
          <a:solidFill>
            <a:srgbClr val="0FB5A6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384048"/>
            <a:ext cx="10762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FB5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· 先建立直觉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大模型，是一台「文字接龙」机器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737360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它读过海量文字，学会了语言的规律，然后做一件事：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66928" y="239572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D4ED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给你前面的话，预测下一个字。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66928" y="310896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关键点：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5B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模型本身只是一个「函数」——输入文字，输出下一个字。它不会自己跑起来，需要被一层工程包裹才能对外服务。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766560" y="1828800"/>
            <a:ext cx="4855464" cy="914400"/>
          </a:xfrm>
          <a:prstGeom prst="roundRect">
            <a:avLst>
              <a:gd name="adj" fmla="val 7000"/>
            </a:avLst>
          </a:prstGeom>
          <a:solidFill>
            <a:srgbClr val="EEF4FB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0" y="1828800"/>
            <a:ext cx="4855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你输入的文字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075420" y="2816352"/>
            <a:ext cx="237744" cy="274320"/>
          </a:xfrm>
          <a:prstGeom prst="downArrow">
            <a:avLst/>
          </a:prstGeom>
          <a:solidFill>
            <a:srgbClr val="5B6B82"/>
          </a:solidFill>
          <a:ln/>
        </p:spPr>
      </p:sp>
      <p:sp>
        <p:nvSpPr>
          <p:cNvPr id="11" name="Shape 9"/>
          <p:cNvSpPr/>
          <p:nvPr/>
        </p:nvSpPr>
        <p:spPr>
          <a:xfrm>
            <a:off x="6766560" y="3163824"/>
            <a:ext cx="4855464" cy="914400"/>
          </a:xfrm>
          <a:prstGeom prst="roundRect">
            <a:avLst>
              <a:gd name="adj" fmla="val 7000"/>
            </a:avLst>
          </a:prstGeom>
          <a:solidFill>
            <a:srgbClr val="1D4ED8"/>
          </a:solidFill>
          <a:ln/>
          <a:effectLst>
            <a:outerShdw sx="100000" sy="100000" kx="0" ky="0" algn="bl" rotWithShape="0" blurRad="76200" dist="19050" dir="5400000">
              <a:srgbClr val="0B1F3A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66560" y="3163824"/>
            <a:ext cx="4855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大模型（函数）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075420" y="4151376"/>
            <a:ext cx="237744" cy="274320"/>
          </a:xfrm>
          <a:prstGeom prst="downArrow">
            <a:avLst/>
          </a:prstGeom>
          <a:solidFill>
            <a:srgbClr val="5B6B82"/>
          </a:solidFill>
          <a:ln/>
        </p:spPr>
      </p:sp>
      <p:sp>
        <p:nvSpPr>
          <p:cNvPr id="14" name="Shape 12"/>
          <p:cNvSpPr/>
          <p:nvPr/>
        </p:nvSpPr>
        <p:spPr>
          <a:xfrm>
            <a:off x="6766560" y="4498848"/>
            <a:ext cx="4855464" cy="914400"/>
          </a:xfrm>
          <a:prstGeom prst="roundRect">
            <a:avLst>
              <a:gd name="adj" fmla="val 7000"/>
            </a:avLst>
          </a:prstGeom>
          <a:solidFill>
            <a:srgbClr val="0FB5A6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0" y="4498848"/>
            <a:ext cx="4855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34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下一个字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766560" y="5852160"/>
            <a:ext cx="4855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循环几百次，就接龙出一整段回答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DeepSeek Harness · 通俗解读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707624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55448" cy="155448"/>
          </a:xfrm>
          <a:prstGeom prst="rect">
            <a:avLst/>
          </a:prstGeom>
          <a:solidFill>
            <a:srgbClr val="0FB5A6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384048"/>
            <a:ext cx="10762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FB5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· 核心概念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Harness = 给模型套上的「挽具」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78308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Harness 本意是套在马身上的挽具：让马的力气，真正拉得动车。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66928" y="283464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B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在大模型里，harness 就是包裹在模型外面的那一整套工程组件。它把「一个会接龙的函数」变成「一个能对话、能干活的产品」。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66928" y="42976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没有 harness，模型再强，也只是躺在硬盘里的一堆数字。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83680" y="1783080"/>
            <a:ext cx="5038344" cy="3566160"/>
          </a:xfrm>
          <a:prstGeom prst="roundRect">
            <a:avLst>
              <a:gd name="adj" fmla="val 1795"/>
            </a:avLst>
          </a:prstGeom>
          <a:solidFill>
            <a:srgbClr val="D7F2EF"/>
          </a:solidFill>
          <a:ln w="19050">
            <a:solidFill>
              <a:srgbClr val="0FB5A6"/>
            </a:solidFill>
            <a:prstDash val="solid"/>
          </a:ln>
          <a:effectLst>
            <a:outerShdw sx="100000" sy="100000" kx="0" ky="0" algn="bl" rotWithShape="0" blurRad="76200" dist="19050" dir="5400000">
              <a:srgbClr val="0B1F3A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947672"/>
            <a:ext cx="5038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0B7A6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HARNESS（脚手架）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269480" y="2560320"/>
            <a:ext cx="3666744" cy="1554480"/>
          </a:xfrm>
          <a:prstGeom prst="roundRect">
            <a:avLst>
              <a:gd name="adj" fmla="val 4118"/>
            </a:avLst>
          </a:prstGeom>
          <a:solidFill>
            <a:srgbClr val="1D4ED8"/>
          </a:solidFill>
          <a:ln/>
          <a:effectLst>
            <a:outerShdw sx="100000" sy="100000" kx="0" ky="0" algn="bl" rotWithShape="0" blurRad="76200" dist="19050" dir="5400000">
              <a:srgbClr val="0B1F3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269480" y="2880360"/>
            <a:ext cx="3666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模型内核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269480" y="3429000"/>
            <a:ext cx="3666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6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（只会接龙的函数）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0" y="4782312"/>
            <a:ext cx="998982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0" y="4782312"/>
            <a:ext cx="9989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7A6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拆字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21574" y="4782312"/>
            <a:ext cx="998982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021574" y="4782312"/>
            <a:ext cx="9989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7A6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管记忆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85148" y="4782312"/>
            <a:ext cx="998982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9185148" y="4782312"/>
            <a:ext cx="9989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7A6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跑计算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348722" y="4782312"/>
            <a:ext cx="998982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0348722" y="4782312"/>
            <a:ext cx="9989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7A6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选字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DeepSeek Harness · 通俗解读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707624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55448" cy="155448"/>
          </a:xfrm>
          <a:prstGeom prst="rect">
            <a:avLst/>
          </a:prstGeom>
          <a:solidFill>
            <a:srgbClr val="0FB5A6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384048"/>
            <a:ext cx="10762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FB5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· 核心概念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Harness 负责的五件工作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911096"/>
            <a:ext cx="128016" cy="128016"/>
          </a:xfrm>
          <a:prstGeom prst="rect">
            <a:avLst/>
          </a:prstGeom>
          <a:solidFill>
            <a:srgbClr val="0FB5A6"/>
          </a:solidFill>
          <a:ln/>
        </p:spPr>
      </p:sp>
      <p:sp>
        <p:nvSpPr>
          <p:cNvPr id="6" name="Text 4"/>
          <p:cNvSpPr/>
          <p:nvPr/>
        </p:nvSpPr>
        <p:spPr>
          <a:xfrm>
            <a:off x="877824" y="17830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拆字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77824" y="218541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B5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Tokenization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931920" y="1801368"/>
            <a:ext cx="7690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把文字切成模型能读的「词元」小块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66928" y="2624328"/>
            <a:ext cx="11055096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2825496"/>
            <a:ext cx="128016" cy="128016"/>
          </a:xfrm>
          <a:prstGeom prst="rect">
            <a:avLst/>
          </a:prstGeom>
          <a:solidFill>
            <a:srgbClr val="0FB5A6"/>
          </a:solidFill>
          <a:ln/>
        </p:spPr>
      </p:sp>
      <p:sp>
        <p:nvSpPr>
          <p:cNvPr id="11" name="Text 9"/>
          <p:cNvSpPr/>
          <p:nvPr/>
        </p:nvSpPr>
        <p:spPr>
          <a:xfrm>
            <a:off x="877824" y="26974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管记忆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77824" y="309981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B5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KV Cache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31920" y="2715768"/>
            <a:ext cx="7690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记住前面说过什么——越聊越费内存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66928" y="3538728"/>
            <a:ext cx="11055096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3739896"/>
            <a:ext cx="128016" cy="128016"/>
          </a:xfrm>
          <a:prstGeom prst="rect">
            <a:avLst/>
          </a:prstGeom>
          <a:solidFill>
            <a:srgbClr val="0FB5A6"/>
          </a:solidFill>
          <a:ln/>
        </p:spPr>
      </p:sp>
      <p:sp>
        <p:nvSpPr>
          <p:cNvPr id="16" name="Text 14"/>
          <p:cNvSpPr/>
          <p:nvPr/>
        </p:nvSpPr>
        <p:spPr>
          <a:xfrm>
            <a:off x="877824" y="36118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跑计算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77824" y="401421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B5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Inference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31920" y="3630168"/>
            <a:ext cx="7690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高效执行模型运算，尽量快、尽量省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66928" y="4453128"/>
            <a:ext cx="11055096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4654296"/>
            <a:ext cx="128016" cy="128016"/>
          </a:xfrm>
          <a:prstGeom prst="rect">
            <a:avLst/>
          </a:prstGeom>
          <a:solidFill>
            <a:srgbClr val="0FB5A6"/>
          </a:solidFill>
          <a:ln/>
        </p:spPr>
      </p:sp>
      <p:sp>
        <p:nvSpPr>
          <p:cNvPr id="21" name="Text 19"/>
          <p:cNvSpPr/>
          <p:nvPr/>
        </p:nvSpPr>
        <p:spPr>
          <a:xfrm>
            <a:off x="877824" y="45262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选字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77824" y="492861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B5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Decoding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931920" y="4544568"/>
            <a:ext cx="7690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决定下一个字怎么挑（随机还是确定）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66928" y="5367528"/>
            <a:ext cx="11055096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928" y="5568696"/>
            <a:ext cx="128016" cy="128016"/>
          </a:xfrm>
          <a:prstGeom prst="rect">
            <a:avLst/>
          </a:prstGeom>
          <a:solidFill>
            <a:srgbClr val="0FB5A6"/>
          </a:solidFill>
          <a:ln/>
        </p:spPr>
      </p:sp>
      <p:sp>
        <p:nvSpPr>
          <p:cNvPr id="26" name="Text 24"/>
          <p:cNvSpPr/>
          <p:nvPr/>
        </p:nvSpPr>
        <p:spPr>
          <a:xfrm>
            <a:off x="877824" y="54406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循环 + 工具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77824" y="584301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B5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Loop &amp; Tools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931920" y="5458968"/>
            <a:ext cx="7690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一步步生成完整回答，必要时调用外部工具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566928" y="6281928"/>
            <a:ext cx="11055096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DeepSeek Harness · 通俗解读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707624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55448" cy="155448"/>
          </a:xfrm>
          <a:prstGeom prst="rect">
            <a:avLst/>
          </a:prstGeom>
          <a:solidFill>
            <a:srgbClr val="0FB5A6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384048"/>
            <a:ext cx="10762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FB5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· 完整旅程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你问一句话，背后发生了什么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2468880"/>
            <a:ext cx="2287829" cy="1371600"/>
          </a:xfrm>
          <a:prstGeom prst="chevron">
            <a:avLst/>
          </a:prstGeom>
          <a:solidFill>
            <a:srgbClr val="EEF4FB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468880"/>
            <a:ext cx="198607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你的问题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2799893" y="2468880"/>
            <a:ext cx="2287829" cy="1371600"/>
          </a:xfrm>
          <a:prstGeom prst="chevron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3055925" y="2468880"/>
            <a:ext cx="198607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切成词元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032858" y="2468880"/>
            <a:ext cx="2287829" cy="1371600"/>
          </a:xfrm>
          <a:prstGeom prst="chevron">
            <a:avLst/>
          </a:prstGeom>
          <a:solidFill>
            <a:srgbClr val="1D4ED8"/>
          </a:solidFill>
          <a:ln/>
          <a:effectLst>
            <a:outerShdw sx="100000" sy="100000" kx="0" ky="0" algn="bl" rotWithShape="0" blurRad="76200" dist="19050" dir="5400000">
              <a:srgbClr val="0B1F3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288890" y="2468880"/>
            <a:ext cx="198607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模型预测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265822" y="2468880"/>
            <a:ext cx="2287829" cy="1371600"/>
          </a:xfrm>
          <a:prstGeom prst="chevron">
            <a:avLst/>
          </a:prstGeom>
          <a:solidFill>
            <a:srgbClr val="1D4ED8"/>
          </a:solidFill>
          <a:ln/>
        </p:spPr>
      </p:sp>
      <p:sp>
        <p:nvSpPr>
          <p:cNvPr id="12" name="Text 10"/>
          <p:cNvSpPr/>
          <p:nvPr/>
        </p:nvSpPr>
        <p:spPr>
          <a:xfrm>
            <a:off x="7521854" y="2468880"/>
            <a:ext cx="198607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选字 · 循环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9498787" y="2468880"/>
            <a:ext cx="2287829" cy="1371600"/>
          </a:xfrm>
          <a:prstGeom prst="chevron">
            <a:avLst/>
          </a:prstGeom>
          <a:solidFill>
            <a:srgbClr val="0FB5A6"/>
          </a:solidFill>
          <a:ln/>
        </p:spPr>
      </p:sp>
      <p:sp>
        <p:nvSpPr>
          <p:cNvPr id="14" name="Text 12"/>
          <p:cNvSpPr/>
          <p:nvPr/>
        </p:nvSpPr>
        <p:spPr>
          <a:xfrm>
            <a:off x="9754819" y="2468880"/>
            <a:ext cx="198607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634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完整回答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566928" y="4297680"/>
            <a:ext cx="11055096" cy="1051560"/>
          </a:xfrm>
          <a:prstGeom prst="roundRect">
            <a:avLst>
              <a:gd name="adj" fmla="val 6087"/>
            </a:avLst>
          </a:prstGeom>
          <a:solidFill>
            <a:srgbClr val="D7F2EF"/>
          </a:solidFill>
          <a:ln/>
        </p:spPr>
      </p:sp>
      <p:sp>
        <p:nvSpPr>
          <p:cNvPr id="16" name="Text 14"/>
          <p:cNvSpPr/>
          <p:nvPr/>
        </p:nvSpPr>
        <p:spPr>
          <a:xfrm>
            <a:off x="886968" y="4462272"/>
            <a:ext cx="10415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6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 ~ 4 步（拆字、管记忆、选字、循环），全部由 harness 负责。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50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模型只真正参与「预测」那一下——其余都是脚手架在干活。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66928" y="5577840"/>
            <a:ext cx="11055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「词元」可以粗略理解为「半个字到一字」的文本单位。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DeepSeek Harness · 通俗解读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707624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55448" cy="155448"/>
          </a:xfrm>
          <a:prstGeom prst="rect">
            <a:avLst/>
          </a:prstGeom>
          <a:solidFill>
            <a:srgbClr val="0FB5A6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384048"/>
            <a:ext cx="10762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FB5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工作一 · 拆字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模型不认汉字，只认「编号」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7830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模型眼里没有「字」，只有数字。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66928" y="233172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B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Tokenizer（分词器）把文字切成一小块一小块的「词元」，每块对应一个编号。词元，就是模型世界里的最小货币。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66928" y="39319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你看到的每个「字」，其实都被换成了一个编号，模型只对编号做运算。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09360" y="1783080"/>
            <a:ext cx="5312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例：「今天天气不错」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309360" y="2468880"/>
            <a:ext cx="1232154" cy="1051560"/>
          </a:xfrm>
          <a:prstGeom prst="roundRect">
            <a:avLst>
              <a:gd name="adj" fmla="val 6087"/>
            </a:avLst>
          </a:prstGeom>
          <a:solidFill>
            <a:srgbClr val="1D4ED8"/>
          </a:solidFill>
          <a:ln/>
          <a:effectLst>
            <a:outerShdw sx="100000" sy="100000" kx="0" ky="0" algn="bl" rotWithShape="0" blurRad="76200" dist="19050" dir="5400000">
              <a:srgbClr val="0B1F3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09360" y="2542032"/>
            <a:ext cx="12321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今天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309360" y="3090672"/>
            <a:ext cx="12321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6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#102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669530" y="2468880"/>
            <a:ext cx="1232154" cy="1051560"/>
          </a:xfrm>
          <a:prstGeom prst="roundRect">
            <a:avLst>
              <a:gd name="adj" fmla="val 6087"/>
            </a:avLst>
          </a:prstGeom>
          <a:solidFill>
            <a:srgbClr val="EEF4FB"/>
          </a:solidFill>
          <a:ln/>
        </p:spPr>
      </p:sp>
      <p:sp>
        <p:nvSpPr>
          <p:cNvPr id="13" name="Text 11"/>
          <p:cNvSpPr/>
          <p:nvPr/>
        </p:nvSpPr>
        <p:spPr>
          <a:xfrm>
            <a:off x="7669530" y="2542032"/>
            <a:ext cx="12321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4ED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天气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669530" y="3090672"/>
            <a:ext cx="12321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#887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029700" y="2468880"/>
            <a:ext cx="1232154" cy="1051560"/>
          </a:xfrm>
          <a:prstGeom prst="roundRect">
            <a:avLst>
              <a:gd name="adj" fmla="val 6087"/>
            </a:avLst>
          </a:prstGeom>
          <a:solidFill>
            <a:srgbClr val="1D4ED8"/>
          </a:solidFill>
          <a:ln/>
          <a:effectLst>
            <a:outerShdw sx="100000" sy="100000" kx="0" ky="0" algn="bl" rotWithShape="0" blurRad="76200" dist="19050" dir="5400000">
              <a:srgbClr val="0B1F3A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029700" y="2542032"/>
            <a:ext cx="12321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029700" y="3090672"/>
            <a:ext cx="12321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6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#34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389870" y="2468880"/>
            <a:ext cx="1232154" cy="1051560"/>
          </a:xfrm>
          <a:prstGeom prst="roundRect">
            <a:avLst>
              <a:gd name="adj" fmla="val 6087"/>
            </a:avLst>
          </a:prstGeom>
          <a:solidFill>
            <a:srgbClr val="EEF4FB"/>
          </a:solidFill>
          <a:ln/>
        </p:spPr>
      </p:sp>
      <p:sp>
        <p:nvSpPr>
          <p:cNvPr id="19" name="Text 17"/>
          <p:cNvSpPr/>
          <p:nvPr/>
        </p:nvSpPr>
        <p:spPr>
          <a:xfrm>
            <a:off x="10389870" y="2542032"/>
            <a:ext cx="12321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4ED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错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389870" y="3090672"/>
            <a:ext cx="12321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#561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09360" y="3794760"/>
            <a:ext cx="5312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B5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文字  →  编号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DeepSeek Harness · 通俗解读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707624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55448" cy="155448"/>
          </a:xfrm>
          <a:prstGeom prst="rect">
            <a:avLst/>
          </a:prstGeom>
          <a:solidFill>
            <a:srgbClr val="0FB5A6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384048"/>
            <a:ext cx="10762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FB5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工作二 · 管记忆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模型的「记忆」，越聊越贵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78308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生成每个新字，模型都要「回看」前面所有字。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66928" y="260604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B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为了不用反复重算，harness 把中间结果缓存下来——这就是 KV Cache。对话越长，缓存越大，吃掉的内存越多。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66928" y="411480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所以「管记忆」是推理成本的大头，也是优化的重点。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675120" y="4169664"/>
            <a:ext cx="1030986" cy="76809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5010912"/>
            <a:ext cx="13053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短对话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80426" y="3511296"/>
            <a:ext cx="1030986" cy="14264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1" name="Text 9"/>
          <p:cNvSpPr/>
          <p:nvPr/>
        </p:nvSpPr>
        <p:spPr>
          <a:xfrm>
            <a:off x="7843266" y="5010912"/>
            <a:ext cx="13053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中对话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285732" y="2798064"/>
            <a:ext cx="1030986" cy="213969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9148572" y="5010912"/>
            <a:ext cx="13053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长对话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591038" y="2194560"/>
            <a:ext cx="1030986" cy="2743200"/>
          </a:xfrm>
          <a:prstGeom prst="rect">
            <a:avLst/>
          </a:prstGeom>
          <a:solidFill>
            <a:srgbClr val="0FB5A6"/>
          </a:solidFill>
          <a:ln/>
          <a:effectLst>
            <a:outerShdw sx="100000" sy="100000" kx="0" ky="0" algn="bl" rotWithShape="0" blurRad="76200" dist="19050" dir="5400000">
              <a:srgbClr val="0B1F3A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453878" y="5010912"/>
            <a:ext cx="13053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超长对话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75120" y="1783080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记忆占用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75120" y="2194560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B5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↑ 随对话长度线性增长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DeepSeek Harness · 通俗解读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707624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55448" cy="155448"/>
          </a:xfrm>
          <a:prstGeom prst="rect">
            <a:avLst/>
          </a:prstGeom>
          <a:solidFill>
            <a:srgbClr val="0FB5A6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384048"/>
            <a:ext cx="10762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FB5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亮点一 · MLA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给记忆做「压缩」，省掉九成缓存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78308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B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传统做法：每个词元都完整保存 Key/Value 向量——又占内存，又慢。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66928" y="274320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MLA（多头潜在注意力）：先把 Key/Value 压进一个低维的「潜在空间」，再存下来。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66928" y="38862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4ED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通俗说：给记忆做无损压缩，聊得再长也不慌。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66928" y="457200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FB5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≈ 93%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66928" y="55321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KV 缓存占用下降（DeepSeek-V3 报告）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949440" y="1828800"/>
            <a:ext cx="4672584" cy="1828800"/>
          </a:xfrm>
          <a:prstGeom prst="roundRect">
            <a:avLst>
              <a:gd name="adj" fmla="val 3500"/>
            </a:avLst>
          </a:prstGeom>
          <a:solidFill>
            <a:srgbClr val="EEF4FB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0" y="2011680"/>
            <a:ext cx="4672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传统 KV 缓存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49440" y="2468880"/>
            <a:ext cx="4672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很大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9157716" y="3794760"/>
            <a:ext cx="256032" cy="365760"/>
          </a:xfrm>
          <a:prstGeom prst="downArrow">
            <a:avLst/>
          </a:prstGeom>
          <a:solidFill>
            <a:srgbClr val="0FB5A6"/>
          </a:solidFill>
          <a:ln/>
        </p:spPr>
      </p:sp>
      <p:sp>
        <p:nvSpPr>
          <p:cNvPr id="14" name="Shape 12"/>
          <p:cNvSpPr/>
          <p:nvPr/>
        </p:nvSpPr>
        <p:spPr>
          <a:xfrm>
            <a:off x="6949440" y="4297680"/>
            <a:ext cx="2897002" cy="1463040"/>
          </a:xfrm>
          <a:prstGeom prst="roundRect">
            <a:avLst>
              <a:gd name="adj" fmla="val 4375"/>
            </a:avLst>
          </a:prstGeom>
          <a:solidFill>
            <a:srgbClr val="0FB5A6"/>
          </a:solidFill>
          <a:ln/>
          <a:effectLst>
            <a:outerShdw sx="100000" sy="100000" kx="0" ky="0" algn="bl" rotWithShape="0" blurRad="76200" dist="19050" dir="5400000">
              <a:srgbClr val="0B1F3A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49440" y="4480560"/>
            <a:ext cx="28970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34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MLA 压缩后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49440" y="4892040"/>
            <a:ext cx="28970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34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很小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DeepSeek Harness · 通俗解读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707624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55448" cy="155448"/>
          </a:xfrm>
          <a:prstGeom prst="rect">
            <a:avLst/>
          </a:prstGeom>
          <a:solidFill>
            <a:srgbClr val="0FB5A6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384048"/>
            <a:ext cx="10762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FB5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亮点二 · MoE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 个专家坐班，每件事只派 3 个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7830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参数越多越聪明，但每次都动用全部参数，太浪费。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66928" y="269748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MoE（混合专家）把网络拆成很多「专家」，每个词元只激活少数最对口的几个。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66928" y="40690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容量很大，但每次计算量很小——这就是「又快又聪明」的诀窍。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09360" y="1920240"/>
            <a:ext cx="2473452" cy="2468880"/>
          </a:xfrm>
          <a:prstGeom prst="roundRect">
            <a:avLst>
              <a:gd name="adj" fmla="val 2593"/>
            </a:avLst>
          </a:prstGeom>
          <a:solidFill>
            <a:srgbClr val="EEF4FB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240280"/>
            <a:ext cx="24734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D4ED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671B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6309360" y="3291840"/>
            <a:ext cx="24734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总参数（全部专家）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8572" y="1920240"/>
            <a:ext cx="2473452" cy="2468880"/>
          </a:xfrm>
          <a:prstGeom prst="roundRect">
            <a:avLst>
              <a:gd name="adj" fmla="val 2593"/>
            </a:avLst>
          </a:prstGeom>
          <a:solidFill>
            <a:srgbClr val="D7F2EF"/>
          </a:solidFill>
          <a:ln w="12700">
            <a:solidFill>
              <a:srgbClr val="0FB5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8572" y="2240280"/>
            <a:ext cx="24734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B7A6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37B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9148572" y="3291840"/>
            <a:ext cx="24734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7A6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每个词元实际激活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9360" y="4617720"/>
            <a:ext cx="5312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DeepSeek-V3：总参数 671B，每词元仅激活约 37B（约 5%）。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DeepSeek Harness · 通俗解读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707624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55448" cy="155448"/>
          </a:xfrm>
          <a:prstGeom prst="rect">
            <a:avLst/>
          </a:prstGeom>
          <a:solidFill>
            <a:srgbClr val="0FB5A6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384048"/>
            <a:ext cx="10762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FB5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亮点三 · MTP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先「打草稿」，再整段校验，生成更快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7830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大模型一个字一个字往外蹦，天然慢。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66928" y="25603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MTP（多词元预测）：训练时就让它一次预测好几个字。推理时先快速打草稿，再一次性校验。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66928" y="41148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像写文章先列草稿，老师批改通过就整段收下，不用逐字重写。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5312664" cy="960120"/>
          </a:xfrm>
          <a:prstGeom prst="roundRect">
            <a:avLst>
              <a:gd name="adj" fmla="val 6667"/>
            </a:avLst>
          </a:prstGeom>
          <a:solidFill>
            <a:srgbClr val="EEF4FB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95681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打草稿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37960" y="2395728"/>
            <a:ext cx="4855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快速猜出 5 个字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846820" y="2862072"/>
            <a:ext cx="237744" cy="274320"/>
          </a:xfrm>
          <a:prstGeom prst="downArrow">
            <a:avLst/>
          </a:prstGeom>
          <a:solidFill>
            <a:srgbClr val="5B6B82"/>
          </a:solidFill>
          <a:ln/>
        </p:spPr>
      </p:sp>
      <p:sp>
        <p:nvSpPr>
          <p:cNvPr id="12" name="Shape 10"/>
          <p:cNvSpPr/>
          <p:nvPr/>
        </p:nvSpPr>
        <p:spPr>
          <a:xfrm>
            <a:off x="6309360" y="3136392"/>
            <a:ext cx="5312664" cy="960120"/>
          </a:xfrm>
          <a:prstGeom prst="roundRect">
            <a:avLst>
              <a:gd name="adj" fmla="val 6667"/>
            </a:avLst>
          </a:prstGeom>
          <a:solidFill>
            <a:srgbClr val="1D4ED8"/>
          </a:solidFill>
          <a:ln/>
          <a:effectLst>
            <a:outerShdw sx="100000" sy="100000" kx="0" ky="0" algn="bl" rotWithShape="0" blurRad="76200" dist="19050" dir="5400000">
              <a:srgbClr val="0B1F3A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37960" y="32644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校验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537960" y="3703320"/>
            <a:ext cx="4855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9D6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模型一次核对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846820" y="4169664"/>
            <a:ext cx="237744" cy="274320"/>
          </a:xfrm>
          <a:prstGeom prst="downArrow">
            <a:avLst/>
          </a:prstGeom>
          <a:solidFill>
            <a:srgbClr val="5B6B82"/>
          </a:solidFill>
          <a:ln/>
        </p:spPr>
      </p:sp>
      <p:sp>
        <p:nvSpPr>
          <p:cNvPr id="16" name="Shape 14"/>
          <p:cNvSpPr/>
          <p:nvPr/>
        </p:nvSpPr>
        <p:spPr>
          <a:xfrm>
            <a:off x="6309360" y="4443984"/>
            <a:ext cx="5312664" cy="960120"/>
          </a:xfrm>
          <a:prstGeom prst="roundRect">
            <a:avLst>
              <a:gd name="adj" fmla="val 6667"/>
            </a:avLst>
          </a:prstGeom>
          <a:solidFill>
            <a:srgbClr val="0FB5A6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4572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634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整段收下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537960" y="5010912"/>
            <a:ext cx="4855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634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通过就全部接受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DeepSeek Harness · 通俗解读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707624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55448" cy="155448"/>
          </a:xfrm>
          <a:prstGeom prst="rect">
            <a:avLst/>
          </a:prstGeom>
          <a:solidFill>
            <a:srgbClr val="0FB5A6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384048"/>
            <a:ext cx="10762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FB5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更多 · 省字诀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还有几个围绕「省」的设计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1055096" cy="1143000"/>
          </a:xfrm>
          <a:prstGeom prst="roundRect">
            <a:avLst>
              <a:gd name="adj" fmla="val 5600"/>
            </a:avLst>
          </a:prstGeom>
          <a:solidFill>
            <a:srgbClr val="EEF4FB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212848"/>
            <a:ext cx="146304" cy="14630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7" name="Text 5"/>
          <p:cNvSpPr/>
          <p:nvPr/>
        </p:nvSpPr>
        <p:spPr>
          <a:xfrm>
            <a:off x="1161288" y="202996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FP8 混合精度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504688" y="2029968"/>
            <a:ext cx="5843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用更少的位数存数字，训练更快、更省硬件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66928" y="3200400"/>
            <a:ext cx="11055096" cy="1143000"/>
          </a:xfrm>
          <a:prstGeom prst="roundRect">
            <a:avLst>
              <a:gd name="adj" fmla="val 5600"/>
            </a:avLst>
          </a:prstGeom>
          <a:solidFill>
            <a:srgbClr val="EEF4FB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3584448"/>
            <a:ext cx="146304" cy="14630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1" name="Text 9"/>
          <p:cNvSpPr/>
          <p:nvPr/>
        </p:nvSpPr>
        <p:spPr>
          <a:xfrm>
            <a:off x="1161288" y="340156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无辅助损失负载均衡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5504688" y="3401568"/>
            <a:ext cx="5843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让专家们「分活均匀」，谁也不摸鱼、谁也不过载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572000"/>
            <a:ext cx="11055096" cy="1143000"/>
          </a:xfrm>
          <a:prstGeom prst="roundRect">
            <a:avLst>
              <a:gd name="adj" fmla="val 5600"/>
            </a:avLst>
          </a:prstGeom>
          <a:solidFill>
            <a:srgbClr val="D7F2EF"/>
          </a:solidFill>
          <a:ln w="12700">
            <a:solidFill>
              <a:srgbClr val="0FB5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4956048"/>
            <a:ext cx="146304" cy="146304"/>
          </a:xfrm>
          <a:prstGeom prst="rect">
            <a:avLst/>
          </a:prstGeom>
          <a:solidFill>
            <a:srgbClr val="0FB5A6"/>
          </a:solidFill>
          <a:ln/>
        </p:spPr>
      </p:sp>
      <p:sp>
        <p:nvSpPr>
          <p:cNvPr id="15" name="Text 13"/>
          <p:cNvSpPr/>
          <p:nvPr/>
        </p:nvSpPr>
        <p:spPr>
          <a:xfrm>
            <a:off x="1161288" y="477316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7A6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共同目标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5504688" y="4773168"/>
            <a:ext cx="5843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50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把「又大又聪明」的模型，变得「又便宜又快」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DeepSeek Harness · 通俗解读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707624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55448" cy="155448"/>
          </a:xfrm>
          <a:prstGeom prst="rect">
            <a:avLst/>
          </a:prstGeom>
          <a:solidFill>
            <a:srgbClr val="0FB5A6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384048"/>
            <a:ext cx="10762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FB5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· 串起来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它们如何协同工作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011680" y="1664208"/>
            <a:ext cx="8165592" cy="896112"/>
          </a:xfrm>
          <a:prstGeom prst="roundRect">
            <a:avLst>
              <a:gd name="adj" fmla="val 7143"/>
            </a:avLst>
          </a:prstGeom>
          <a:solidFill>
            <a:srgbClr val="EEF4FB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31720" y="1664208"/>
            <a:ext cx="3291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你的问题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669280" y="1664208"/>
            <a:ext cx="423367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你输入的每一个字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011680" y="2697480"/>
            <a:ext cx="8165592" cy="1078992"/>
          </a:xfrm>
          <a:prstGeom prst="roundRect">
            <a:avLst>
              <a:gd name="adj" fmla="val 5932"/>
            </a:avLst>
          </a:prstGeom>
          <a:solidFill>
            <a:srgbClr val="D7F2EF"/>
          </a:solidFill>
          <a:ln w="19050">
            <a:solidFill>
              <a:srgbClr val="0FB5A6"/>
            </a:solidFill>
            <a:prstDash val="solid"/>
          </a:ln>
          <a:effectLst>
            <a:outerShdw sx="100000" sy="100000" kx="0" ky="0" algn="bl" rotWithShape="0" blurRad="76200" dist="19050" dir="5400000">
              <a:srgbClr val="0B1F3A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331720" y="2697480"/>
            <a:ext cx="32918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7A6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Harness 脚手架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669280" y="2697480"/>
            <a:ext cx="42336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0B7A6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拆字 · 管记忆(MLA) · 选字 · 循环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011680" y="3913632"/>
            <a:ext cx="8165592" cy="841248"/>
          </a:xfrm>
          <a:prstGeom prst="roundRect">
            <a:avLst>
              <a:gd name="adj" fmla="val 7609"/>
            </a:avLst>
          </a:prstGeom>
          <a:solidFill>
            <a:srgbClr val="1D4ED8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76200" dist="19050" dir="5400000">
              <a:srgbClr val="0B1F3A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331720" y="3913632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模型内核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669280" y="3913632"/>
            <a:ext cx="42336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MoE：只唤醒需要的专家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011680" y="4892040"/>
            <a:ext cx="8165592" cy="841248"/>
          </a:xfrm>
          <a:prstGeom prst="roundRect">
            <a:avLst>
              <a:gd name="adj" fmla="val 7609"/>
            </a:avLst>
          </a:prstGeom>
          <a:solidFill>
            <a:srgbClr val="0FB5A6"/>
          </a:solidFill>
          <a:ln w="19050">
            <a:solidFill>
              <a:srgbClr val="0FB5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31720" y="4892040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34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669280" y="4892040"/>
            <a:ext cx="42336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0634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又快、又省、又能干的回答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66928" y="5879592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D4ED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一句话：模型负责「聪明」，harness 负责把聪明变得「用得起、用得快」。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DeepSeek Harness · 通俗解读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707624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051560"/>
            <a:ext cx="155448" cy="155448"/>
          </a:xfrm>
          <a:prstGeom prst="rect">
            <a:avLst/>
          </a:prstGeom>
          <a:solidFill>
            <a:srgbClr val="0FB5A6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96012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FB5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带走三句话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B5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481328" y="1691640"/>
            <a:ext cx="10140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1F5F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模型是大脑，harness 是让大脑干活的整套身体。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66928" y="2560320"/>
            <a:ext cx="11055096" cy="0"/>
          </a:xfrm>
          <a:prstGeom prst="line">
            <a:avLst/>
          </a:prstGeom>
          <a:noFill/>
          <a:ln w="12700">
            <a:solidFill>
              <a:srgbClr val="2440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28346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B5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481328" y="2834640"/>
            <a:ext cx="10140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1F5F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DeepSeek 的秘诀：压缩记忆（MLA）、按需唤醒（MoE）、提前打草稿（MTP）。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66928" y="3703320"/>
            <a:ext cx="11055096" cy="0"/>
          </a:xfrm>
          <a:prstGeom prst="line">
            <a:avLst/>
          </a:prstGeom>
          <a:noFill/>
          <a:ln w="12700">
            <a:solidFill>
              <a:srgbClr val="2440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39776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B5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481328" y="3977640"/>
            <a:ext cx="10140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1F5F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目标只有一个：让「聪明」变得用得起、用得快。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566928" y="4846320"/>
            <a:ext cx="11055096" cy="0"/>
          </a:xfrm>
          <a:prstGeom prst="line">
            <a:avLst/>
          </a:prstGeom>
          <a:noFill/>
          <a:ln w="12700">
            <a:solidFill>
              <a:srgbClr val="2440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548640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9DB0C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谢谢 · 欢迎提问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看懂 DeepSeek Harness</dc:title>
  <dc:subject>PptxGenJS Presentation</dc:subject>
  <dc:creator>ZCode</dc:creator>
  <cp:lastModifiedBy>ZCode</cp:lastModifiedBy>
  <cp:revision>1</cp:revision>
  <dcterms:created xsi:type="dcterms:W3CDTF">2026-08-29T14:57:47Z</dcterms:created>
  <dcterms:modified xsi:type="dcterms:W3CDTF">2026-08-29T14:57:47Z</dcterms:modified>
</cp:coreProperties>
</file>